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回数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T1顺时</c:v>
                </c:pt>
                <c:pt idx="1">
                  <c:v>S3封闭</c:v>
                </c:pt>
                <c:pt idx="2">
                  <c:v>C1人物驱动</c:v>
                </c:pt>
                <c:pt idx="3">
                  <c:v>C2中长链</c:v>
                </c:pt>
                <c:pt idx="4">
                  <c:v>C3开放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115.0</c:v>
                </c:pt>
                <c:pt idx="1">
                  <c:v>107.0</c:v>
                </c:pt>
                <c:pt idx="2">
                  <c:v>80.0</c:v>
                </c:pt>
                <c:pt idx="3">
                  <c:v>111.0</c:v>
                </c:pt>
                <c:pt idx="4">
                  <c:v>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跃迁维度数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5→6回</c:v>
                </c:pt>
                <c:pt idx="1">
                  <c:v>98→99回</c:v>
                </c:pt>
                <c:pt idx="2">
                  <c:v>116→117回</c:v>
                </c:pt>
                <c:pt idx="3">
                  <c:v>119→120回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6.0</c:v>
                </c:pt>
                <c:pt idx="2">
                  <c:v>9.0</c:v>
                </c:pt>
                <c:pt idx="3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开场：今天讲一个把「读懂」变成可计算结构的认知架构——19683 是三元的九维各取三态的全部组合数。</a:t>
            </a:r>
          </a:p>
          <a:p>
            <a:r>
              <a:t>一句话说明核心：不是增加一种认知，而是给已有认知一个坐标系，让它可以转录、运算和复用。</a:t>
            </a:r>
          </a:p>
          <a:p>
            <a:r>
              <a:t>预告结构：先讲为什么需要认知空间，再讲它由什么组成、如何运作，然后用红楼梦演示实证，用停云楼演示创作应用，最后指出边界。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六个问题对应六个章节，主线是"结构如何被看见、被计算、被复用"。</a:t>
            </a:r>
          </a:p>
          <a:p>
            <a:r>
              <a:t>前两问建立概念与结构，第三问讲运作机制，四五问分别用红楼梦和停云楼做实证与应用，最后一问给边界和延伸。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每章以完整问句开场：读完一部小说，懂到底是什么？</a:t>
            </a:r>
          </a:p>
          <a:p>
            <a:r>
              <a:t>设置困惑锚点——这个懂是私人体感，说不出口、无法传递、比较与复制。</a:t>
            </a:r>
          </a:p>
          <a:p>
            <a:r>
              <a:t>本章只问问题不给答案，答案在下一页开始逐步给出。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这页回答定义类问题：认知与认知空间差在哪里。</a:t>
            </a:r>
          </a:p>
          <a:p>
            <a:r>
              <a:t>四行对比：形态、传递、运算、复用——体验是私有的，空间是可操作的。</a:t>
            </a:r>
          </a:p>
          <a:p>
            <a:r>
              <a:t>本质判断：元认知操作化，把懂变成对象。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对比页回答机制类问题：有没有架构做设计差在哪里。</a:t>
            </a:r>
          </a:p>
          <a:p>
            <a:r>
              <a:t>左侧无架构是事后反馈环：写→感觉→改；右侧有架构是前置反馈环：规划→填充→自检→校准。</a:t>
            </a:r>
          </a:p>
          <a:p>
            <a:r>
              <a:t>判断句：反馈环是否前置到动笔之前，是分水岭。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第一章收束成三条支柱：可转录、可运算、可复用。</a:t>
            </a:r>
          </a:p>
          <a:p>
            <a:r>
              <a:t>判断句：认知空间等于让懂可查、可算、可转移。</a:t>
            </a:r>
          </a:p>
          <a:p>
            <a:r>
              <a:t>强调边界：不替代直觉，架构只是坐标系。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第二章引题：这个空间由什么组成。</a:t>
            </a:r>
          </a:p>
          <a:p>
            <a:r>
              <a:t>树形结构：三个视角时间空间因果，每元拆出三个维度。</a:t>
            </a:r>
          </a:p>
          <a:p>
            <a:r>
              <a:t>要点：三元并置无优先级，九维独立逐维判定。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九维三态判据是整套框架的"字典"：每维只有三种离散状态。</a:t>
            </a:r>
          </a:p>
          <a:p>
            <a:r>
              <a:t>时间三态看流向尺度节律，空间三态看层级流动结构，因果三态看归因链长封闭。</a:t>
            </a:r>
          </a:p>
          <a:p>
            <a:r>
              <a:t>标注对象是情节节点与人物状态；判据以文本实际呈现为准。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机制页讲编码：九维按固定顺序做三进制加权求和，范围0到19682。</a:t>
            </a:r>
          </a:p>
          <a:p>
            <a:r>
              <a:t>两端示例：000-000-000是最素的起点态，222-222-222是全展开的终局态。</a:t>
            </a:r>
          </a:p>
          <a:p>
            <a:r>
              <a:t>判断句：编号恰好铺满19683格，无空位无重复，保证可计算可复现。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第二章小结：三个问题对应三元的九维，一套坐标，19683个格子。</a:t>
            </a:r>
          </a:p>
          <a:p>
            <a:r>
              <a:t>支柱一：判据可逐条套用，结果可复核；支柱二：编码可计算可复现。</a:t>
            </a:r>
          </a:p>
          <a:p>
            <a:r>
              <a:t>边界提醒：坐标不携带文笔审美信息。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第三章引题：把文本放进坐标系分几步。</a:t>
            </a:r>
          </a:p>
          <a:p>
            <a:r>
              <a:t>四步：切分节点、逐维标注、编码归档、轨迹串联。</a:t>
            </a:r>
          </a:p>
          <a:p>
            <a:r>
              <a:t>强调可复核性：清点、复核、重算、绘图，四步都可验证。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方法页：六项分析全部由轨迹串联的产物计算。</a:t>
            </a:r>
          </a:p>
          <a:p>
            <a:r>
              <a:t>分布看倾向、路径看节律、转移看转折、指纹看定调、人物看成长、标记看结构点。</a:t>
            </a:r>
          </a:p>
          <a:p>
            <a:r>
              <a:t>其中④结构指纹是最具概括力的输出，下一章给出红楼梦实测值。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第四章引题：把120回红楼梦逐回标进坐标系。</a:t>
            </a:r>
          </a:p>
          <a:p>
            <a:r>
              <a:t>三个数字：120个节点、84个唯一编码、编码跨度0到18952。</a:t>
            </a:r>
          </a:p>
          <a:p>
            <a:r>
              <a:t>说明同回可多人各自标注人物坐标，数据来自已交付的映射分析报告。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证据页：结构指纹。条形图是五维高频态占比，熵值给出量化定调。</a:t>
            </a:r>
          </a:p>
          <a:p>
            <a:r>
              <a:t>全书熵1.3929，因果元最高（1.5）说明因果张力最不确定，空间元最低（1.15）说明空间最稳定封闭。</a:t>
            </a:r>
          </a:p>
          <a:p>
            <a:r>
              <a:t>判断句：一部封闭日常、人物命运驱动的悲剧。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演示页：转折点位置。柱状图取四处关键跃迁的维度变化数。</a:t>
            </a:r>
          </a:p>
          <a:p>
            <a:r>
              <a:t>5到6回升了8维（入梦奠定），98到99回升6维（从日常转入归空），116-117与119-120连续大跳（终局收束）。</a:t>
            </a:r>
          </a:p>
          <a:p>
            <a:r>
              <a:t>判断句：三处大跃迁把全书切成入梦、日常、归空三大板块。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案例页：人物轨迹对比，五条轨迹五种命运。</a:t>
            </a:r>
          </a:p>
          <a:p>
            <a:r>
              <a:t>宝玉拱形跃迁后归空；黛玉零跃迁向内塌缩；宝钗顺应环境得世俗胜利；凤姐归因摇摆与权力反噬交缠；晴雯被封闭环境杀死。</a:t>
            </a:r>
          </a:p>
          <a:p>
            <a:r>
              <a:t>判断句：命运结构即人格，轨迹形态替代性格形容词。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应用证据页：指纹能不能用来写新小说，停云楼是同构重写案例。</a:t>
            </a:r>
          </a:p>
          <a:p>
            <a:r>
              <a:t>红楼梦四项指纹映射到停云楼：封闭空间、人物驱动、中长链伏笔、开放收束。</a:t>
            </a:r>
          </a:p>
          <a:p>
            <a:r>
              <a:t>人物映射：青梧宝玉、清和黛玉、晴鸢晴雯；12回约1.96万字，成稿已回贴自检。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迁移页：把停云楼案例沉淀为四步再创作接口。</a:t>
            </a:r>
          </a:p>
          <a:p>
            <a:r>
              <a:t>取指纹→定策略（同构/镜像/变奏）→画蓝图→回贴自检。</a:t>
            </a:r>
          </a:p>
          <a:p>
            <a:r>
              <a:t>强调回贴自检是闭环关键；方法公式：指纹×策略×蓝图×回贴。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边界页：三条边界划清能力半径。</a:t>
            </a:r>
          </a:p>
          <a:p>
            <a:r>
              <a:t>一不评判文笔审美；二只看文本实际呈现；三争议取多数值并注明歧义。</a:t>
            </a:r>
          </a:p>
          <a:p>
            <a:r>
              <a:t>判断句：坐标是看结构的尺，不是审美的秤。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结尾页：同一坐标系延伸到另一领域。</a:t>
            </a:r>
          </a:p>
          <a:p>
            <a:r>
              <a:t>方向一：WorldQuant BRAIN 因子开发，用状态空间加结构指纹做因子复盘——客观表述为方向性延伸。</a:t>
            </a:r>
          </a:p>
          <a:p>
            <a:r>
              <a:t>收束判断句：认知空间不增加读懂，它让读懂可查可算可转移。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D1326"/>
            </a:gs>
            <a:gs pos="100000">
              <a:srgbClr val="1E2A5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597" cy="68578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0766" y="812779"/>
            <a:ext cx="7111822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认知架构 · 详解与应用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473163"/>
            <a:ext cx="8127796" cy="152396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00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19683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766" y="3149521"/>
            <a:ext cx="9651758" cy="71118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三元九维 19683 认知架构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0766" y="4089297"/>
            <a:ext cx="9550162" cy="0"/>
          </a:xfrm>
          <a:prstGeom prst="straightConnector1">
            <a:avLst/>
          </a:prstGeom>
          <a:ln w="25400" cap="flat">
            <a:solidFill>
              <a:srgbClr val="2563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320766" y="4368690"/>
            <a:ext cx="10159745" cy="7111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8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把「读懂一部作品」变成可计算、可复用、可生成的结构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766" y="5740256"/>
            <a:ext cx="8889777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三元（时间·空间·因果） × 九维 × 三态　|　3⁹ = 19683 个状态格子</a:t>
            </a:r>
          </a:p>
          <a:p>
            <a:pPr>
              <a:lnSpc>
                <a:spcPct val="116667"/>
              </a:lnSpc>
            </a:pPr>
            <a:r>
              <a:rPr sz="13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2026 年 10 月 · 元认知操作化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558786"/>
            <a:ext cx="9905752" cy="55878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8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六个问题，一条主线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193770"/>
            <a:ext cx="10159745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三元九维 19683，究竟是什么、凭什么成立、能用来做什么？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904952"/>
            <a:ext cx="711182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358" y="1930351"/>
            <a:ext cx="4190895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为什么要给认知一个「空间」？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2779" y="2692332"/>
            <a:ext cx="4673483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12779" y="2895527"/>
            <a:ext cx="711182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358" y="2920926"/>
            <a:ext cx="4190895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三元九维 19683 由什么组成？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2779" y="3682907"/>
            <a:ext cx="4673483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12779" y="3886102"/>
            <a:ext cx="711182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358" y="3911502"/>
            <a:ext cx="4190895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它怎么运作？——四步映射与六项分析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779" y="4673483"/>
            <a:ext cx="4673483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299042" y="1904952"/>
            <a:ext cx="711182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620" y="1930351"/>
            <a:ext cx="4317891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在真实作品上跑出什么？——红楼梦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99042" y="2692332"/>
            <a:ext cx="4673483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99042" y="2895527"/>
            <a:ext cx="711182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2620" y="2920926"/>
            <a:ext cx="4317891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拿这个结果能做什么？——停云楼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99042" y="3682907"/>
            <a:ext cx="4673483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299042" y="3886102"/>
            <a:ext cx="711182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2620" y="3911502"/>
            <a:ext cx="4317891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边界在哪里，还能用到哪去？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99042" y="4673483"/>
            <a:ext cx="4673483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12779" y="5333866"/>
            <a:ext cx="10159745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主线：一部作品的「结构」如何被看见、被计算、被复用。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5968850"/>
            <a:ext cx="10159745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64748B"/>
                </a:solidFill>
                <a:latin typeface="思源宋体"/>
                <a:ea typeface="思源宋体"/>
                <a:cs typeface="思源宋体"/>
              </a:rPr>
              <a:t>三个篇章：认知（第 1 章）→ 结构（第 2–3 章）→ 实证与应用（第 4–5 章）+ 边界（第 6 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761980"/>
            <a:ext cx="6349841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第一章 · 为什么要给认知一个「空间」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2779" y="1269968"/>
            <a:ext cx="10058149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812779" y="1904952"/>
            <a:ext cx="10413739" cy="152396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34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读完一部小说，「懂了」到底意味着什么？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" y="4190895"/>
            <a:ext cx="10566135" cy="1219169"/>
          </a:xfrm>
          <a:prstGeom prst="roundRect">
            <a:avLst>
              <a:gd name="adj" fmla="val 12500"/>
            </a:avLst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169" y="4470288"/>
            <a:ext cx="9753356" cy="7111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7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困惑锚点：这种「懂」说不出口——无法传递、无法比较、无法复制，</a:t>
            </a:r>
          </a:p>
          <a:p>
            <a:pPr>
              <a:lnSpc>
                <a:spcPct val="116667"/>
              </a:lnSpc>
            </a:pPr>
            <a:r>
              <a:rPr sz="17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自己也难以回溯它来自哪一章、哪一段、哪一个因果。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5968850"/>
            <a:ext cx="7619809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这一章回答：为什么需要把认知放进一个「空间」。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第一章 · 认知 vs 认知空间（定义）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认知是体验，认知空间是坐标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认知与认知空间，差在哪里？（定义类问题）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779" y="1727156"/>
          <a:ext cx="10566135" cy="3276514"/>
        </p:xfrm>
        <a:graphic>
          <a:graphicData uri="http://schemas.openxmlformats.org/drawingml/2006/table">
            <a:tbl>
              <a:tblPr firstRow="0" bandRow="0" lastRow="0" bandCol="0">
                <a:tableStyleId>{5C22544A-7EE6-4342-B048-85BDC9FD1C3A}</a:tableStyleId>
              </a:tblPr>
              <a:tblGrid>
                <a:gridCol w="1904952"/>
                <a:gridCol w="4190895"/>
                <a:gridCol w="4470288"/>
              </a:tblGrid>
              <a:tr h="533386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维度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认知（私有体验）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认知空间（可操作对象）</a:t>
                      </a:r>
                    </a:p>
                  </a:txBody>
                  <a:tcPr anchor="ctr" marL="50798" marR="50798" marT="25399" marB="25399">
                    <a:solidFill>
                      <a:srgbClr val="2563EB"/>
                    </a:solidFill>
                  </a:tcPr>
                </a:tc>
              </a:tr>
              <a:tr h="685782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形态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不可见的直觉与体感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坐标、编码、可转录成表格</a:t>
                      </a:r>
                    </a:p>
                  </a:txBody>
                  <a:tcPr anchor="ctr" marL="50798" marR="50798" marT="25399" marB="25399"/>
                </a:tc>
              </a:tr>
              <a:tr h="685782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传递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说不出口，无法转交他人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可写成文字、数字与曲线</a:t>
                      </a:r>
                    </a:p>
                  </a:txBody>
                  <a:tcPr anchor="ctr" marL="50798" marR="50798" marT="25399" marB="25399"/>
                </a:tc>
              </a:tr>
              <a:tr h="685782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运算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不可比较、不可加总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可加总、可求熵、可比对轨迹</a:t>
                      </a:r>
                    </a:p>
                  </a:txBody>
                  <a:tcPr anchor="ctr" marL="50798" marR="50798" marT="25399" marB="25399"/>
                </a:tc>
              </a:tr>
              <a:tr h="685782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复用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一次一感，事后难以回溯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可归档、可复制、可再生成</a:t>
                      </a:r>
                    </a:p>
                  </a:txBody>
                  <a:tcPr anchor="ctr" marL="50798" marR="50798" marT="25399" marB="25399"/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12779" y="5384665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12779" y="5537061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判断：本质 = 元认知操作化——把「懂」从体验变成可转录、可运算、可比较、可复用的对象。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6426039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4" y="6426039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第一章 · 有无架构（对比）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凭手感捏陶，还是先画图纸再施工？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有没有认知架构，做小说设计差在哪？（机制类问题）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" y="1727156"/>
            <a:ext cx="5079872" cy="3682907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572" y="1930351"/>
            <a:ext cx="4470288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64748B"/>
                </a:solidFill>
                <a:latin typeface="思源宋体"/>
                <a:ea typeface="思源宋体"/>
                <a:cs typeface="思源宋体"/>
              </a:rPr>
              <a:t>无架构 · 凭手感捏陶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572" y="2489137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· 起点：凭感觉起笔，结构事后浮现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572" y="2870128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· 人物：靠性格设定，走向听写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3251118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· 修改：凭「感觉不对」逐段返工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572" y="3632109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· 复用：成功来自偶然，难以复制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572" y="4013099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· 失败：说不清哪里断掉、为何断掉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9042" y="1727156"/>
            <a:ext cx="5079872" cy="3682907"/>
          </a:xfrm>
          <a:prstGeom prst="roundRect">
            <a:avLst>
              <a:gd name="adj" fmla="val 2758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3834" y="1930351"/>
            <a:ext cx="4470288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有架构 · 先画图纸再施工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3834" y="2489137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· 起点：先选轨迹坐标，再填内容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834" y="2870128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· 人物：轨道设计（零跃迁/拱形/摇摆）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3834" y="3251118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· 修改：旋钮调校（链长、开放度、归因）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3834" y="3632109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· 复用：失败可定位，成功可复制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3834" y="4013099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· 验证：成稿回贴坐标，逐点可查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2779" y="5740256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12779" y="5867253"/>
            <a:ext cx="10566135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判断：是否把「反馈环」前置到动笔之前——这是有无架构的分水岭。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6426039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29714" y="6426039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609584"/>
            <a:ext cx="6349841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第一章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219169"/>
            <a:ext cx="9651758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驱动问题回放：为什么需要认知空间？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676358"/>
            <a:ext cx="10413739" cy="91437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30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认知空间 = 让「懂」可查、可算、可转移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2779" y="2920926"/>
            <a:ext cx="10566136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812779" y="3428914"/>
            <a:ext cx="3251118" cy="1777955"/>
          </a:xfrm>
          <a:prstGeom prst="roundRect">
            <a:avLst>
              <a:gd name="adj" fmla="val 7142"/>
            </a:avLst>
          </a:prstGeom>
          <a:solidFill>
            <a:srgbClr val="2563E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572" y="3682907"/>
            <a:ext cx="2641533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可转录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572" y="4165495"/>
            <a:ext cx="2641533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体感 → 坐标、编码、表格，把「懂」落到纸面与数字。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0288" y="3428914"/>
            <a:ext cx="3251118" cy="1777955"/>
          </a:xfrm>
          <a:prstGeom prst="roundRect">
            <a:avLst>
              <a:gd name="adj" fmla="val 7142"/>
            </a:avLst>
          </a:prstGeom>
          <a:solidFill>
            <a:srgbClr val="2563E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5080" y="3682907"/>
            <a:ext cx="2641533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可运算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080" y="4165495"/>
            <a:ext cx="2641533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可加总、可求熵、可比对轨迹，让结构可以测量。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3428914"/>
            <a:ext cx="3251118" cy="1777955"/>
          </a:xfrm>
          <a:prstGeom prst="roundRect">
            <a:avLst>
              <a:gd name="adj" fmla="val 7142"/>
            </a:avLst>
          </a:prstGeom>
          <a:solidFill>
            <a:srgbClr val="2563E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89" y="3682907"/>
            <a:ext cx="2641533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可复用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89" y="4165495"/>
            <a:ext cx="2641533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归档成指纹，可迁移到新创作与复盘。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5740256"/>
            <a:ext cx="9651758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边界：认知空间不替代直觉——地图给方向，体感给落笔的温度。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609584"/>
            <a:ext cx="6349841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第二章 · 三元九维 19683 由什么组成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2779" y="1117572"/>
            <a:ext cx="10058149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812779" y="1422364"/>
            <a:ext cx="10413739" cy="6603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这个「空间」由什么组成？——三种视角 × 每元三层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904" y="2387540"/>
            <a:ext cx="4571885" cy="609584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3898" y="2539936"/>
            <a:ext cx="4063898" cy="3555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三元：时间 T · 空间 S · 因果 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3124121"/>
            <a:ext cx="0" cy="253994"/>
          </a:xfrm>
          <a:prstGeom prst="straightConnector1">
            <a:avLst/>
          </a:prstGeom>
          <a:ln w="25400" cap="flat">
            <a:solidFill>
              <a:srgbClr val="64748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285942" y="3378115"/>
            <a:ext cx="7619810" cy="0"/>
          </a:xfrm>
          <a:prstGeom prst="straightConnector1">
            <a:avLst/>
          </a:prstGeom>
          <a:ln w="25400" cap="flat">
            <a:solidFill>
              <a:srgbClr val="64748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2285942" y="3378115"/>
            <a:ext cx="0" cy="634984"/>
          </a:xfrm>
          <a:prstGeom prst="straightConnector1">
            <a:avLst/>
          </a:prstGeom>
          <a:ln w="25400" cap="flat">
            <a:solidFill>
              <a:srgbClr val="64748B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095847" y="3378115"/>
            <a:ext cx="0" cy="634984"/>
          </a:xfrm>
          <a:prstGeom prst="straightConnector1">
            <a:avLst/>
          </a:prstGeom>
          <a:ln w="25400" cap="flat">
            <a:solidFill>
              <a:srgbClr val="64748B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9905752" y="3378115"/>
            <a:ext cx="0" cy="634984"/>
          </a:xfrm>
          <a:prstGeom prst="straightConnector1">
            <a:avLst/>
          </a:prstGeom>
          <a:ln w="25400" cap="flat">
            <a:solidFill>
              <a:srgbClr val="64748B"/>
            </a:solidFill>
          </a:ln>
        </p:spPr>
      </p:cxnSp>
      <p:sp>
        <p:nvSpPr>
          <p:cNvPr id="12" name="Rounded Rectangle 11"/>
          <p:cNvSpPr/>
          <p:nvPr/>
        </p:nvSpPr>
        <p:spPr>
          <a:xfrm>
            <a:off x="965175" y="4013099"/>
            <a:ext cx="2641533" cy="1904952"/>
          </a:xfrm>
          <a:prstGeom prst="roundRect">
            <a:avLst>
              <a:gd name="adj" fmla="val 5333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8370" y="4190895"/>
            <a:ext cx="2235144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T 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8370" y="4622684"/>
            <a:ext cx="2235144" cy="11175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T1 时间流向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T2 时间尺度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T3 时间节律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5080" y="4013099"/>
            <a:ext cx="2641533" cy="1904952"/>
          </a:xfrm>
          <a:prstGeom prst="roundRect">
            <a:avLst>
              <a:gd name="adj" fmla="val 5333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78275" y="4190895"/>
            <a:ext cx="2235144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S 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8275" y="4622684"/>
            <a:ext cx="2235144" cy="11175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S1 空间层级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S2 空间流动性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S3 空间结构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4985" y="4013099"/>
            <a:ext cx="2641533" cy="1904952"/>
          </a:xfrm>
          <a:prstGeom prst="roundRect">
            <a:avLst>
              <a:gd name="adj" fmla="val 5333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88180" y="4190895"/>
            <a:ext cx="2235144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C 因果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180" y="4622684"/>
            <a:ext cx="2235144" cy="11175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C1 因果归因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C2 因果链长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C3 因果封闭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6273643"/>
            <a:ext cx="9651758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三元并置、无优先级；九维互相独立，标注时逐维判定。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第二章 · 九维三态（定义）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九维三态：每一维只取 0 /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每一维如何判定？（定义类问题）——判据以「文本实际呈现」为准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779" y="1701757"/>
          <a:ext cx="10566134" cy="4152791"/>
        </p:xfrm>
        <a:graphic>
          <a:graphicData uri="http://schemas.openxmlformats.org/drawingml/2006/table">
            <a:tbl>
              <a:tblPr firstRow="0" bandRow="0" lastRow="0" bandCol="0">
                <a:tableStyleId>{5C22544A-7EE6-4342-B048-85BDC9FD1C3A}</a:tableStyleId>
              </a:tblPr>
              <a:tblGrid>
                <a:gridCol w="1904952"/>
                <a:gridCol w="2895527"/>
                <a:gridCol w="2895527"/>
                <a:gridCol w="2870128"/>
              </a:tblGrid>
              <a:tr h="380990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维度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0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1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2</a:t>
                      </a:r>
                    </a:p>
                  </a:txBody>
                  <a:tcPr anchor="ctr" marL="50798" marR="50798" marT="25399" marB="25399">
                    <a:solidFill>
                      <a:srgbClr val="2563EB"/>
                    </a:solidFill>
                  </a:tcPr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T1 时间流向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顺时：线性推进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回溯：闪回介入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非线性：跳跃循环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T2 时间尺度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微观：小时/天计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中观：周/月/年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宏观：世代/史观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T3 时间节律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平缓：渐变推进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波动：张弛交替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紧绷：密集爆发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S1 空间层级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微观：内心/密室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中观：城市/舞台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宏观：世界/星系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S2 空间流动性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静止：单点聚焦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迁移：多地移动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跨越：虚实跃迁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S3 空间结构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封闭：强约束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半开放：可探索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开放：无边广域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C1 因果归因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人物驱动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环境驱动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宿命驱动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C2 因果链长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短链：因果立现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中链：数节回收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长链：跨全书闭合</a:t>
                      </a:r>
                    </a:p>
                  </a:txBody>
                  <a:tcPr anchor="ctr" marL="50798" marR="50798" marT="25399" marB="25399"/>
                </a:tc>
              </a:tr>
              <a:tr h="419089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C3 因果封闭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开放：留白续作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部分闭合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完满闭合</a:t>
                      </a:r>
                    </a:p>
                  </a:txBody>
                  <a:tcPr anchor="ctr" marL="50798" marR="50798" marT="25399" marB="25399"/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12779" y="6070448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12779" y="6172045"/>
            <a:ext cx="10566135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判断：每一个节点，九维各取一值 → 得到一个九元组坐标（如 020-112-201）。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6527636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v1.0》第二节 九维定义与三态判据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4" y="6527636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第二章 · 三进制编码（机制）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三进制编码：一格一坐标，19683 从哪里来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3⁹ 个格子如何编号？（机制类问题）——维度固定顺序 T1 T2 T3 S1 S2 S3 C1 C2 C3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" y="1727156"/>
            <a:ext cx="10566135" cy="93977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169" y="1904952"/>
            <a:ext cx="9753356" cy="5841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600">
                <a:solidFill>
                  <a:srgbClr val="0D1326"/>
                </a:solidFill>
                <a:latin typeface="Roboto Mono"/>
                <a:ea typeface="Roboto Mono"/>
                <a:cs typeface="Roboto Mono"/>
              </a:rPr>
              <a:t>code = T1·3⁸ + T2·3⁷ + T3·3⁶ + S1·3⁵ + S2·3⁴ + S3·3³</a:t>
            </a:r>
          </a:p>
          <a:p>
            <a:pPr>
              <a:lnSpc>
                <a:spcPct val="112500"/>
              </a:lnSpc>
            </a:pPr>
            <a:r>
              <a:rPr sz="1600">
                <a:solidFill>
                  <a:srgbClr val="0D1326"/>
                </a:solidFill>
                <a:latin typeface="Roboto Mono"/>
                <a:ea typeface="Roboto Mono"/>
                <a:cs typeface="Roboto Mono"/>
              </a:rPr>
              <a:t>　 　 + C1·3² + C2·3¹ + C3·3⁰　　（0 → 19682）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" y="3022524"/>
            <a:ext cx="5079872" cy="1904952"/>
          </a:xfrm>
          <a:prstGeom prst="roundRect">
            <a:avLst>
              <a:gd name="adj" fmla="val 5333"/>
            </a:avLst>
          </a:prstGeom>
          <a:solidFill>
            <a:srgbClr val="0D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8370" y="3251118"/>
            <a:ext cx="4368690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000-000-000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370" y="3733706"/>
            <a:ext cx="4368690" cy="9905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顺时 · 微观 · 平缓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内心 · 静止 · 封闭</a:t>
            </a:r>
            <a:r>
              <a:t>
</a:t>
            </a: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人物驱动 · 短链 · 开放——最「素」的起点态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9042" y="3022524"/>
            <a:ext cx="5079872" cy="1904952"/>
          </a:xfrm>
          <a:prstGeom prst="roundRect">
            <a:avLst>
              <a:gd name="adj" fmla="val 5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4633" y="3251118"/>
            <a:ext cx="4368690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222-222-222 = 19682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4633" y="3733706"/>
            <a:ext cx="4368690" cy="9905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非线性 · 宏观 · 紧绷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跨世界 · 开放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宿命 · 长链 · 完满闭合——全展开的终局态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779" y="5333866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2779" y="5511662"/>
            <a:ext cx="10566135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判断：编号 0–19682 恰好铺满全部 19683 格——同一文本必得同一坐标，全空间无空位、无重复。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6426039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v1.0》第三节 19683 编码公式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9714" y="6426039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609584"/>
            <a:ext cx="6349841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第二章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219169"/>
            <a:ext cx="9651758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驱动问题回放：这个空间由什么组成？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676358"/>
            <a:ext cx="10413739" cy="91437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30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三个问题，一套坐标，19683 个格子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2779" y="2920926"/>
            <a:ext cx="10058149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812779" y="3352716"/>
            <a:ext cx="5079872" cy="1777955"/>
          </a:xfrm>
          <a:prstGeom prst="roundRect">
            <a:avLst>
              <a:gd name="adj" fmla="val 7142"/>
            </a:avLst>
          </a:prstGeom>
          <a:solidFill>
            <a:srgbClr val="2563E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572" y="3606709"/>
            <a:ext cx="4470288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支柱一：三态判据可逐条套用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572" y="4114697"/>
            <a:ext cx="4470288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九维各有明确判据，同一文本由不同标注者复核仍应得到一致坐标。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9042" y="3352716"/>
            <a:ext cx="5079872" cy="1777955"/>
          </a:xfrm>
          <a:prstGeom prst="roundRect">
            <a:avLst>
              <a:gd name="adj" fmla="val 7142"/>
            </a:avLst>
          </a:prstGeom>
          <a:solidFill>
            <a:srgbClr val="2563E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3834" y="3606709"/>
            <a:ext cx="4470288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支柱二：编码可计算、可复现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3834" y="4114697"/>
            <a:ext cx="4470288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三进制公式把坐标换算为唯一编号，供后续统计、绘图与比较使用。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" y="5740256"/>
            <a:ext cx="9651758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边界：坐标描述结构，不携带文笔与审美信息——同一格内可容纳无数种写法。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609584"/>
            <a:ext cx="6349841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第三章 · 它怎么运作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2779" y="1117572"/>
            <a:ext cx="10058149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812779" y="1625559"/>
            <a:ext cx="10413739" cy="91437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把文本放进坐标系，分几步？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2743131"/>
            <a:ext cx="10413739" cy="3555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预告：四步映射 → 六项分析。本章先讲流程，下一章在《红楼梦》上跑一遍。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809904"/>
            <a:ext cx="2336741" cy="1523961"/>
          </a:xfrm>
          <a:prstGeom prst="roundRect">
            <a:avLst>
              <a:gd name="adj" fmla="val 6666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572" y="4038498"/>
            <a:ext cx="1727156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1 切分节点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572" y="4470288"/>
            <a:ext cx="1727156" cy="66038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2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按场景/事件切成 N 个情节节点，记录在场人物。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51118" y="4571885"/>
            <a:ext cx="761981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10" name="Rounded Rectangle 9"/>
          <p:cNvSpPr/>
          <p:nvPr/>
        </p:nvSpPr>
        <p:spPr>
          <a:xfrm>
            <a:off x="4114697" y="3809904"/>
            <a:ext cx="2336741" cy="1523961"/>
          </a:xfrm>
          <a:prstGeom prst="roundRect">
            <a:avLst>
              <a:gd name="adj" fmla="val 6666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489" y="4038498"/>
            <a:ext cx="1727156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2 逐维标注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489" y="4470288"/>
            <a:ext cx="1727156" cy="66038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2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九维逐一判 0/1/2，人物另标状态坐标。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53036" y="4571885"/>
            <a:ext cx="761981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14" name="Rounded Rectangle 13"/>
          <p:cNvSpPr/>
          <p:nvPr/>
        </p:nvSpPr>
        <p:spPr>
          <a:xfrm>
            <a:off x="7416614" y="3809904"/>
            <a:ext cx="2336741" cy="1523961"/>
          </a:xfrm>
          <a:prstGeom prst="roundRect">
            <a:avLst>
              <a:gd name="adj" fmla="val 6666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1406" y="4038498"/>
            <a:ext cx="1727156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3 编码归档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1406" y="4470288"/>
            <a:ext cx="1727156" cy="66038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2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公式换算编号，建 节点×坐标×原文 对照表。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54953" y="4571885"/>
            <a:ext cx="761981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10718531" y="3809904"/>
            <a:ext cx="812779" cy="1523961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3931" y="4013099"/>
            <a:ext cx="761980" cy="11175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4167"/>
              </a:lnSpc>
            </a:pPr>
            <a:r>
              <a:rPr sz="14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4</a:t>
            </a:r>
          </a:p>
          <a:p>
            <a:pPr algn="ctr">
              <a:lnSpc>
                <a:spcPct val="104167"/>
              </a:lnSpc>
            </a:pPr>
            <a:r>
              <a:rPr sz="14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轨迹串联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740256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5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判断：四步全部可复核——节点可清点、标注可复核、编码可重算、轨迹可绘图；来源：框架 v1.0 第四节。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第三章 · 六项分析（方法）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坐标出来后能算什么？——六项分析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全部由「轨迹串联」的产物直接计算（应用类问题）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" y="1701757"/>
            <a:ext cx="5079872" cy="1066773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572" y="1879552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① 维度分布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572" y="2285942"/>
            <a:ext cx="4470288" cy="4063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九维各自 0/1/2 的频次直方图 → 整体倾向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9042" y="1701757"/>
            <a:ext cx="5079872" cy="1066773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3834" y="1879552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② 状态路径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3834" y="2285942"/>
            <a:ext cx="4470288" cy="4063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节点编号随情节变化的曲线 → 叙事节律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" y="2971725"/>
            <a:ext cx="5079872" cy="1066773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572" y="3149521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③ 转移幅度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572" y="3555911"/>
            <a:ext cx="4470288" cy="4063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相邻节点逐维差异与编号差 → 转折/高潮点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9042" y="2971725"/>
            <a:ext cx="5079872" cy="1066773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3834" y="3149521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④ 结构指纹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3834" y="3555911"/>
            <a:ext cx="4470288" cy="4063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三元重心（众数态）+ 全书熵 H → 一句定调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" y="4241693"/>
            <a:ext cx="5079872" cy="1066773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572" y="4419489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⑤ 人物轨迹对比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572" y="4825879"/>
            <a:ext cx="4470288" cy="4063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C1 归因、S3 结构轨迹差异 → 成长与主导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9042" y="4241693"/>
            <a:ext cx="5079872" cy="1066773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3834" y="4419489"/>
            <a:ext cx="447028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⑥ 关键节点标记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3834" y="4825879"/>
            <a:ext cx="4470288" cy="4063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|Δcode| 最大或同时改变 ≥3 维 → 结构转折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5740256"/>
            <a:ext cx="10566135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判断：六项全部由「轨迹串联」的产物直接计算，可复现、可比对。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6172045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v1.0》第五节 分析方法（六项）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29714" y="6172045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609584"/>
            <a:ext cx="6349841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第四章 · 在真实作品上的实证（红楼梦）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2779" y="1117572"/>
            <a:ext cx="10058149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812779" y="1625559"/>
            <a:ext cx="10413739" cy="91437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把 120 回《红楼梦》逐回标进坐标系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2743131"/>
            <a:ext cx="10413739" cy="3555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通行本全 120 回收录，120 个节点逐一标注——得到 84 个唯一坐标。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809904"/>
            <a:ext cx="3251118" cy="1396965"/>
          </a:xfrm>
          <a:prstGeom prst="roundRect">
            <a:avLst>
              <a:gd name="adj" fmla="val 7272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572" y="4038498"/>
            <a:ext cx="2641533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120 / 120 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572" y="4470288"/>
            <a:ext cx="264153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2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素材完整收录，逐回切分为 120 个情节节点。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0288" y="3809904"/>
            <a:ext cx="3251118" cy="1396965"/>
          </a:xfrm>
          <a:prstGeom prst="roundRect">
            <a:avLst>
              <a:gd name="adj" fmla="val 7272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5080" y="4038498"/>
            <a:ext cx="2641533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84 个唯一编码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080" y="4470288"/>
            <a:ext cx="264153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2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120 回有 84 种不同结构状态，非单调重复。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3809904"/>
            <a:ext cx="3251118" cy="1396965"/>
          </a:xfrm>
          <a:prstGeom prst="roundRect">
            <a:avLst>
              <a:gd name="adj" fmla="val 7272"/>
            </a:avLst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89" y="4038498"/>
            <a:ext cx="2641533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编码跨度 0–18952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89" y="4470288"/>
            <a:ext cx="264153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2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未触及空间两端，全书保持在「中段状态域」。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5714857"/>
            <a:ext cx="10566135" cy="6095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4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判据：节点×坐标×原文位置构成对照表；同回可多人各标一份人物坐标。数据来源：映射分析报告（365 天×逐回标注流程节选）。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第四章 · 结构指纹（证据）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实证：熵 1.39 的「日常体悲剧」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高频态即指纹——稳的日常、困在宅中、由人推动、伏笔长、收束开放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1182" y="1701757"/>
          <a:ext cx="5968850" cy="38099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61023" y="1701757"/>
            <a:ext cx="4317891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全书结构熵（bits）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61023" y="2184345"/>
            <a:ext cx="4317891" cy="660383"/>
          </a:xfrm>
          <a:prstGeom prst="roundRect">
            <a:avLst>
              <a:gd name="adj" fmla="val 11538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5815" y="2336741"/>
            <a:ext cx="1523961" cy="3555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1.3929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2173" y="2412939"/>
            <a:ext cx="203194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全书 120 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1023" y="3098722"/>
            <a:ext cx="4317891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分元熵值：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1023" y="3555911"/>
            <a:ext cx="4317891" cy="121916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0D1326"/>
                </a:solidFill>
                <a:latin typeface="Roboto Mono"/>
                <a:ea typeface="Roboto Mono"/>
                <a:cs typeface="Roboto Mono"/>
              </a:rPr>
              <a:t>时间元 T　1.4143 bits</a:t>
            </a:r>
            <a:r>
              <a:t>
</a:t>
            </a:r>
            <a:r>
              <a:rPr sz="1300">
                <a:solidFill>
                  <a:srgbClr val="0D1326"/>
                </a:solidFill>
                <a:latin typeface="Roboto Mono"/>
                <a:ea typeface="Roboto Mono"/>
                <a:cs typeface="Roboto Mono"/>
              </a:rPr>
              <a:t>空间元 S　1.1550 bits</a:t>
            </a:r>
            <a:r>
              <a:t>
</a:t>
            </a:r>
            <a:r>
              <a:rPr sz="1300">
                <a:solidFill>
                  <a:srgbClr val="0D1326"/>
                </a:solidFill>
                <a:latin typeface="Roboto Mono"/>
                <a:ea typeface="Roboto Mono"/>
                <a:cs typeface="Roboto Mono"/>
              </a:rPr>
              <a:t>因果元 C　1.5056 bits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779" y="5740256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12779" y="5867253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判断：因果元最"不定"、空间元最"定"——结构上更像一部以人物与命运张力为主的封闭日常悲剧。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6527636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来源：《红楼梦》三元九维 19683 映射分析报告（120 回逐回标注）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4" y="6527636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第四章 · 结构转折（演示）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转折点藏在哪？——最大跃迁处即结构转折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相邻回坐标同时改变的维度数（维度跃迁幅度）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1182" y="1701757"/>
          <a:ext cx="6603834" cy="38099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1406" y="1904952"/>
            <a:ext cx="3708307" cy="38099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三段式骨架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1406" y="2412939"/>
            <a:ext cx="3708307" cy="660383"/>
          </a:xfrm>
          <a:prstGeom prst="roundRect">
            <a:avLst>
              <a:gd name="adj" fmla="val 11538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5400" y="2539936"/>
            <a:ext cx="3200319" cy="4317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入梦　第 1–5 回（含 5→6 巨变）</a:t>
            </a:r>
            <a:r>
              <a:t>
</a:t>
            </a: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开启、立格局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1406" y="3225719"/>
            <a:ext cx="3708307" cy="660383"/>
          </a:xfrm>
          <a:prstGeom prst="roundRect">
            <a:avLst>
              <a:gd name="adj" fmla="val 11538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5400" y="3352716"/>
            <a:ext cx="3200319" cy="4317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日常　第 6–98 回</a:t>
            </a:r>
            <a:r>
              <a:t>
</a:t>
            </a: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长段稳定，98→99 跌落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1406" y="4038498"/>
            <a:ext cx="3708307" cy="660383"/>
          </a:xfrm>
          <a:prstGeom prst="roundRect">
            <a:avLst>
              <a:gd name="adj" fmla="val 11538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5400" y="4165495"/>
            <a:ext cx="3200319" cy="43178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归空　第 99–120 回</a:t>
            </a:r>
            <a:r>
              <a:t>
</a:t>
            </a:r>
            <a:r>
              <a:rPr sz="13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116→117、119→120 连跳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779" y="5740256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2779" y="5867253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判断：结构并非平滑渐变——三处大跃迁把全书切成「入梦 / 日常 / 归空」三大板块。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6527636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来源：《红楼梦》映射分析报告 · 转移幅度统计；维度跃迁数（共 9 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9714" y="6527636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第四章 · 人物轨迹（案例）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人物怎么用坐标说话？——五条轨迹，五种命运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人物状态坐标串联成轨迹——轨迹形态即命运结构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779" y="1701757"/>
          <a:ext cx="10566133" cy="3695603"/>
        </p:xfrm>
        <a:graphic>
          <a:graphicData uri="http://schemas.openxmlformats.org/drawingml/2006/table">
            <a:tbl>
              <a:tblPr firstRow="0" bandRow="0" lastRow="0" bandCol="0">
                <a:tableStyleId>{5C22544A-7EE6-4342-B048-85BDC9FD1C3A}</a:tableStyleId>
              </a:tblPr>
              <a:tblGrid>
                <a:gridCol w="1650958"/>
                <a:gridCol w="2666933"/>
                <a:gridCol w="3327316"/>
                <a:gridCol w="2920926"/>
              </a:tblGrid>
              <a:tr h="457188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人物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轨迹形态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坐标刻画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命运结构</a:t>
                      </a:r>
                    </a:p>
                  </a:txBody>
                  <a:tcPr anchor="ctr" marL="50798" marR="50798" marT="25399" marB="25399">
                    <a:solidFill>
                      <a:srgbClr val="2563EB"/>
                    </a:solidFill>
                  </a:tcPr>
                </a:tc>
              </a:tr>
              <a:tr h="647683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贾宝玉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拱形跃迁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入世 → 历劫 → 出世（第 117 回达顶点后回落）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完满闭环：经历、顿悟、归空</a:t>
                      </a:r>
                    </a:p>
                  </a:txBody>
                  <a:tcPr anchor="ctr" marL="50798" marR="50798" marT="25399" marB="25399"/>
                </a:tc>
              </a:tr>
              <a:tr h="647683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林黛玉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零跃迁（内塌）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坐标几乎不动，向内塌缩（第 43 回起持续）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一动不动即死局：环境无法支撑</a:t>
                      </a:r>
                    </a:p>
                  </a:txBody>
                  <a:tcPr anchor="ctr" marL="50798" marR="50798" marT="25399" marB="25399"/>
                </a:tc>
              </a:tr>
              <a:tr h="647683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薛宝钗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世俗胜利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顺应环境，坐标稳步推进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平台的胜利：留在规则内</a:t>
                      </a:r>
                    </a:p>
                  </a:txBody>
                  <a:tcPr anchor="ctr" marL="50798" marR="50798" marT="25399" marB="25399"/>
                </a:tc>
              </a:tr>
              <a:tr h="647683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王熙凤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因果摇摆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C1 归因在人物/环境/宿命间摆动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权力与反噬的交缠</a:t>
                      </a:r>
                    </a:p>
                  </a:txBody>
                  <a:tcPr anchor="ctr" marL="50798" marR="50798" marT="25399" marB="25399"/>
                </a:tc>
              </a:tr>
              <a:tr h="647683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晴雯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闭环牺牲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清白者被环境杀死（S3 封闭压制）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封闭系统的祭品</a:t>
                      </a:r>
                    </a:p>
                  </a:txBody>
                  <a:tcPr anchor="ctr" marL="50798" marR="50798" marT="25399" marB="25399"/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12779" y="5740256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12779" y="5867253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判断：人物不靠"性格形容词"区分，而靠轨迹形态区分——命运结构即人格。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6527636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来源：《红楼梦》映射分析报告 · 人物状态轨迹对比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4" y="6527636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第五章 · 再创作应用（停云楼）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指纹能用来写新小说吗？——停云楼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同构重写：保留红楼梦指纹，换一套人物与情节（应用类问题）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1727156"/>
            <a:ext cx="2235144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红楼梦指纹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36821" y="1879552"/>
            <a:ext cx="1371566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7" name="TextBox 6"/>
          <p:cNvSpPr txBox="1"/>
          <p:nvPr/>
        </p:nvSpPr>
        <p:spPr>
          <a:xfrm>
            <a:off x="4673483" y="1727156"/>
            <a:ext cx="2235144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停云楼落地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97524" y="1879552"/>
            <a:ext cx="1371566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9" name="TextBox 8"/>
          <p:cNvSpPr txBox="1"/>
          <p:nvPr/>
        </p:nvSpPr>
        <p:spPr>
          <a:xfrm>
            <a:off x="8534186" y="1727156"/>
            <a:ext cx="2844728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产出校验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12779" y="2158945"/>
          <a:ext cx="7086422" cy="1422362"/>
        </p:xfrm>
        <a:graphic>
          <a:graphicData uri="http://schemas.openxmlformats.org/drawingml/2006/table">
            <a:tbl>
              <a:tblPr firstRow="0" bandRow="0" lastRow="0" bandCol="0">
                <a:tableStyleId>{5C22544A-7EE6-4342-B048-85BDC9FD1C3A}</a:tableStyleId>
              </a:tblPr>
              <a:tblGrid>
                <a:gridCol w="1904952"/>
                <a:gridCol w="5181470"/>
              </a:tblGrid>
              <a:tr h="457188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指纹项（红楼梦）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停云楼设计对应</a:t>
                      </a:r>
                    </a:p>
                  </a:txBody>
                  <a:tcPr anchor="ctr" marL="50798" marR="50798" marT="25399" marB="25399">
                    <a:solidFill>
                      <a:srgbClr val="0D1326"/>
                    </a:solidFill>
                  </a:tcPr>
                </a:tc>
              </a:tr>
              <a:tr h="482587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S3 封闭（107/120）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一座封闭戏园内的 12 回故事</a:t>
                      </a:r>
                    </a:p>
                  </a:txBody>
                  <a:tcPr anchor="ctr" marL="50798" marR="50798" marT="25399" marB="25399"/>
                </a:tc>
              </a:tr>
              <a:tr h="482587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C1 人物驱动（80/120）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冲突由人物选择与意愿推动，非外敌</a:t>
                      </a:r>
                    </a:p>
                  </a:txBody>
                  <a:tcPr anchor="ctr" marL="50798" marR="50798" marT="25399" marB="25399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2779" y="3759105"/>
          <a:ext cx="7086422" cy="965174"/>
        </p:xfrm>
        <a:graphic>
          <a:graphicData uri="http://schemas.openxmlformats.org/drawingml/2006/table">
            <a:tbl>
              <a:tblPr firstRow="0" bandRow="0" lastRow="0" bandCol="0">
                <a:tableStyleId>{5C22544A-7EE6-4342-B048-85BDC9FD1C3A}</a:tableStyleId>
              </a:tblPr>
              <a:tblGrid>
                <a:gridCol w="1904952"/>
                <a:gridCol w="5181470"/>
              </a:tblGrid>
              <a:tr h="482587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C2 中长链（111/120）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伏笔跨回铺设、数节后回收</a:t>
                      </a:r>
                    </a:p>
                  </a:txBody>
                  <a:tcPr anchor="ctr" marL="50798" marR="50798" marT="25399" marB="25399"/>
                </a:tc>
              </a:tr>
              <a:tr h="482587">
                <a:tc>
                  <a:txBody>
                    <a:bodyPr anchor="ctr" wrap="square">
                      <a:noAutofit/>
                    </a:bodyPr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C3 开放（70/120）</a:t>
                      </a:r>
                    </a:p>
                  </a:txBody>
                  <a:tcPr anchor="ctr" marL="50798" marR="50798" marT="25399" marB="25399"/>
                </a:tc>
                <a:tc>
                  <a:txBody>
                    <a:bodyPr anchor="ctr" wrap="square">
                      <a:noAutofit/>
                    </a:bodyPr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>
                          <a:solidFill>
                            <a:srgbClr val="0D1326"/>
                          </a:solidFill>
                          <a:latin typeface="思源宋体"/>
                          <a:ea typeface="思源宋体"/>
                          <a:cs typeface="思源宋体"/>
                        </a:rPr>
                        <a:t>主线回环、支线留白、结尾开放</a:t>
                      </a:r>
                    </a:p>
                  </a:txBody>
                  <a:tcPr anchor="ctr" marL="50798" marR="50798" marT="25399" marB="25399"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178595" y="2158945"/>
            <a:ext cx="3200319" cy="2565335"/>
          </a:xfrm>
          <a:prstGeom prst="roundRect">
            <a:avLst>
              <a:gd name="adj" fmla="val 3960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3387" y="2336741"/>
            <a:ext cx="2590735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人物轨迹映射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3387" y="2768530"/>
            <a:ext cx="2590735" cy="91437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833"/>
              </a:lnSpc>
            </a:pP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青梧  ↔ 贾宝玉（拱形跃迁）</a:t>
            </a:r>
            <a:r>
              <a:t>
</a:t>
            </a: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清和  ↔ 林黛玉（零跃迁）</a:t>
            </a:r>
            <a:r>
              <a:t>
</a:t>
            </a: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晴鸢  ↔ 晴雯（闭环牺牲）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3387" y="3809904"/>
            <a:ext cx="2590735" cy="6095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2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体量：12 回章回体</a:t>
            </a:r>
            <a:r>
              <a:t>
</a:t>
            </a:r>
            <a:r>
              <a:rPr sz="1200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约 1.96 万字成稿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2779" y="5130671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12779" y="5257668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判断：指纹不是抄情节，而是把结构骨架完整搬运——新人物、新冲突，同一命运结构。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5968850"/>
            <a:ext cx="10566135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64748B"/>
                </a:solidFill>
                <a:latin typeface="思源宋体"/>
                <a:ea typeface="思源宋体"/>
                <a:cs typeface="思源宋体"/>
              </a:rPr>
              <a:t>校验：成稿已按坐标回贴自检——骨骼一致处即指纹生效处；细节差异处即新作个性处。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6527636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来源：《停云楼》再创作小说文稿；《红楼梦》映射分析报告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4" y="6527636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第五章 · 方法沉淀（迁移）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有架构的设计如何沉淀为方法？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从「一个案例」到「一套可重复接口」——四步再创作流程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" y="1930351"/>
            <a:ext cx="2489137" cy="190495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572" y="2133546"/>
            <a:ext cx="1879552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① 取指纹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572" y="2590735"/>
            <a:ext cx="1879552" cy="101597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从原作出提取三元重心、熵值与主要转折坐标。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03514" y="2895527"/>
            <a:ext cx="736582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4241693" y="1930351"/>
            <a:ext cx="2489137" cy="190495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486" y="2133546"/>
            <a:ext cx="1879552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② 定策略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486" y="2590735"/>
            <a:ext cx="1879552" cy="101597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同构保留 / 镜像翻转 / 变奏（保留主元变异副元）。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32429" y="2895527"/>
            <a:ext cx="736581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7670608" y="1930351"/>
            <a:ext cx="2489137" cy="190495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5400" y="2133546"/>
            <a:ext cx="1879552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③ 画蓝图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5400" y="2590735"/>
            <a:ext cx="1879552" cy="101597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2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每个关键节点给出目标坐标，再写场景人物冲突。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61343" y="2895527"/>
            <a:ext cx="736581" cy="0"/>
          </a:xfrm>
          <a:prstGeom prst="straightConnector1">
            <a:avLst/>
          </a:prstGeom>
          <a:ln w="25400" cap="flat">
            <a:solidFill>
              <a:srgbClr val="2563EB"/>
            </a:solidFill>
            <a:tailEnd type="triangle"/>
          </a:ln>
        </p:spPr>
      </p:cxnSp>
      <p:sp>
        <p:nvSpPr>
          <p:cNvPr id="17" name="Rounded Rectangle 16"/>
          <p:cNvSpPr/>
          <p:nvPr/>
        </p:nvSpPr>
        <p:spPr>
          <a:xfrm>
            <a:off x="11099522" y="1930351"/>
            <a:ext cx="965175" cy="1904952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24921" y="2235144"/>
            <a:ext cx="914377" cy="12699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2500"/>
              </a:lnSpc>
            </a:pPr>
            <a:r>
              <a:rPr sz="13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④</a:t>
            </a:r>
          </a:p>
          <a:p>
            <a:pPr algn="ctr">
              <a:lnSpc>
                <a:spcPct val="112500"/>
              </a:lnSpc>
            </a:pPr>
            <a:r>
              <a:rPr sz="13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回贴自检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4267093"/>
            <a:ext cx="10566135" cy="761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833"/>
              </a:lnSpc>
            </a:pPr>
            <a:r>
              <a:rPr sz="14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成稿后回到同一坐标系：新作是否抵达蓝图坐标？指纹是否符合所选策略？</a:t>
            </a:r>
          </a:p>
          <a:p>
            <a:pPr>
              <a:lnSpc>
                <a:spcPct val="120833"/>
              </a:lnSpc>
            </a:pPr>
            <a:r>
              <a:rPr sz="14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回贴自检是闭环的关键——不回贴，蓝图就只是立意而非方法。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2779" y="5333866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12779" y="5486262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判断：方法 = 指纹 × 策略 × 蓝图 × 回贴——四者缺一，创作便退回手感。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6172045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v1.0》第六节 再创作接口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29714" y="6172045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380990"/>
            <a:ext cx="6349841" cy="2793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第六章 · 边界与延伸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711182"/>
            <a:ext cx="10413739" cy="50798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0D1326"/>
                </a:solidFill>
                <a:latin typeface="思源宋体"/>
                <a:ea typeface="思源宋体"/>
                <a:cs typeface="思源宋体"/>
              </a:rPr>
              <a:t>使用边界：这个架构管什么、不管什么？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413739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三条边界划清架构的能力半径（定义类问题）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79" y="1727156"/>
            <a:ext cx="10566135" cy="1041373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572" y="1930351"/>
            <a:ext cx="1523961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边界一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4728" y="1904952"/>
            <a:ext cx="8229394" cy="6857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坐标是分析坐标系，不评判文笔与审美——同一坐标下可以诞生完全不同的文本；</a:t>
            </a:r>
          </a:p>
          <a:p>
            <a:pPr>
              <a:lnSpc>
                <a:spcPct val="116667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它回答「结构怎么排」，不回答「这句好不好」。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" y="2920926"/>
            <a:ext cx="10566135" cy="1041373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572" y="3124121"/>
            <a:ext cx="1523961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边界二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728" y="3098722"/>
            <a:ext cx="8229394" cy="6857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判据以「文本实际呈现」为准——作者的访谈、自述或外部解读不改变标注；</a:t>
            </a:r>
          </a:p>
          <a:p>
            <a:pPr>
              <a:lnSpc>
                <a:spcPct val="116667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只看作品本身，架构才保持可复核。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" y="4114697"/>
            <a:ext cx="10566135" cy="1041373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572" y="4317891"/>
            <a:ext cx="1523961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Roboto Mono"/>
                <a:ea typeface="Roboto Mono"/>
                <a:cs typeface="Roboto Mono"/>
              </a:rPr>
              <a:t>边界三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4728" y="4292492"/>
            <a:ext cx="8229394" cy="6857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争议节点取多数标注一致值，并在报告中注明歧义维度——</a:t>
            </a:r>
          </a:p>
          <a:p>
            <a:pPr>
              <a:lnSpc>
                <a:spcPct val="116667"/>
              </a:lnSpc>
            </a:pPr>
            <a:r>
              <a:rPr sz="1300">
                <a:solidFill>
                  <a:srgbClr val="475569"/>
                </a:solidFill>
                <a:latin typeface="思源宋体"/>
                <a:ea typeface="思源宋体"/>
                <a:cs typeface="思源宋体"/>
              </a:rPr>
              <a:t>架构允许不确定，但必须把不确定显式暴露出来。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2779" y="5537061"/>
            <a:ext cx="10058149" cy="0"/>
          </a:xfrm>
          <a:prstGeom prst="straightConnector1">
            <a:avLst/>
          </a:prstGeom>
          <a:ln w="12700" cap="flat">
            <a:solidFill>
              <a:srgbClr val="CBD5E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12779" y="5689457"/>
            <a:ext cx="10566135" cy="5587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500" b="1">
                <a:solidFill>
                  <a:srgbClr val="2563EB"/>
                </a:solidFill>
                <a:latin typeface="思源宋体"/>
                <a:ea typeface="思源宋体"/>
                <a:cs typeface="思源宋体"/>
              </a:rPr>
              <a:t>判断：坐标是看结构的尺，不是审美的秤；边界本身也是架构的一部分。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6426039"/>
            <a:ext cx="8889777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来源：《三元九维解析规则框架 v1.0》第七节 使用边界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29714" y="6426039"/>
            <a:ext cx="457188" cy="25399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>
                <a:solidFill>
                  <a:srgbClr val="94A3B8"/>
                </a:solidFill>
                <a:latin typeface="Roboto Mono"/>
                <a:ea typeface="Roboto Mono"/>
                <a:cs typeface="Roboto Mono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D1326"/>
            </a:gs>
            <a:gs pos="100000">
              <a:srgbClr val="1E2A5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597" cy="68578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0766" y="812779"/>
            <a:ext cx="7111822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第六章 · 走出小说，坐标还能去哪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0766" y="1523961"/>
            <a:ext cx="9651758" cy="76198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同一坐标系，另一个领域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20766" y="2539936"/>
            <a:ext cx="9550162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320766" y="2844728"/>
            <a:ext cx="9550161" cy="160015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833"/>
              </a:lnSpc>
            </a:pPr>
            <a:r>
              <a:rPr sz="1500" b="1">
                <a:solidFill>
                  <a:srgbClr val="93C5FD"/>
                </a:solidFill>
                <a:latin typeface="思源宋体"/>
                <a:ea typeface="思源宋体"/>
                <a:cs typeface="思源宋体"/>
              </a:rPr>
              <a:t>方向一 · WorldQuant BRAIN 因子开发：</a:t>
            </a:r>
          </a:p>
          <a:p>
            <a:pPr>
              <a:lnSpc>
                <a:spcPct val="120833"/>
              </a:lnSpc>
            </a:pPr>
            <a:r>
              <a:rPr sz="15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用「状态空间 + 结构指纹」思路对因子结构做复盘——把策略、样本与业绩看作</a:t>
            </a:r>
          </a:p>
          <a:p>
            <a:pPr>
              <a:lnSpc>
                <a:spcPct val="120833"/>
              </a:lnSpc>
            </a:pPr>
            <a:r>
              <a:rPr sz="15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可编码的状态轨道，比较不同因子在空间中的轨迹与指纹，定位缺陷、保留有效结构。</a:t>
            </a:r>
          </a:p>
          <a:p>
            <a:pPr>
              <a:lnSpc>
                <a:spcPct val="120833"/>
              </a:lnSpc>
            </a:pPr>
            <a:r>
              <a:rPr sz="1500">
                <a:solidFill>
                  <a:srgbClr val="CBD5E1"/>
                </a:solidFill>
                <a:latin typeface="思源宋体"/>
                <a:ea typeface="思源宋体"/>
                <a:cs typeface="思源宋体"/>
              </a:rPr>
              <a:t>（方向性延伸，具体以量化平台实际数据为准。）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0766" y="4825879"/>
            <a:ext cx="9550162" cy="0"/>
          </a:xfrm>
          <a:prstGeom prst="straightConnector1">
            <a:avLst/>
          </a:prstGeom>
          <a:ln w="12700" cap="flat">
            <a:solidFill>
              <a:srgbClr val="2563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320766" y="5130671"/>
            <a:ext cx="9550161" cy="33019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收束：认知空间不增加「读懂」，它让「读懂」可查、可算、可转移。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0766" y="6172045"/>
            <a:ext cx="8889777" cy="3047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  <a:latin typeface="思源宋体"/>
                <a:ea typeface="思源宋体"/>
                <a:cs typeface="思源宋体"/>
              </a:rPr>
              <a:t>三元九维 19683 认知架构 · 内容基于《三元九维解析规则框架 v1.0》与实证案例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